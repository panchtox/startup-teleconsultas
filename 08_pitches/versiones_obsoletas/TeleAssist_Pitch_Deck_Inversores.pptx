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0" y="1371600"/>
            <a:ext cx="1828800" cy="109728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25829" y="2743200"/>
            <a:ext cx="8978741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6A34A"/>
                </a:solidFill>
              </a:defRPr>
            </a:pPr>
            <a:r>
              <a:rPr dirty="0" err="1"/>
              <a:t>Recuperá</a:t>
            </a:r>
            <a:r>
              <a:rPr dirty="0"/>
              <a:t> </a:t>
            </a:r>
            <a:r>
              <a:rPr lang="es-ES" dirty="0"/>
              <a:t>hasta </a:t>
            </a:r>
            <a:r>
              <a:rPr dirty="0"/>
              <a:t>$7</a:t>
            </a:r>
            <a:r>
              <a:rPr lang="es-ES" dirty="0"/>
              <a:t>0</a:t>
            </a:r>
            <a:r>
              <a:rPr dirty="0"/>
              <a:t>.000 al </a:t>
            </a:r>
            <a:r>
              <a:rPr dirty="0" err="1"/>
              <a:t>año</a:t>
            </a:r>
            <a:endParaRPr dirty="0"/>
          </a:p>
          <a:p>
            <a:r>
              <a:rPr dirty="0" err="1"/>
              <a:t>en</a:t>
            </a:r>
            <a:r>
              <a:rPr dirty="0"/>
              <a:t> horas </a:t>
            </a:r>
            <a:r>
              <a:rPr dirty="0" err="1"/>
              <a:t>médicas</a:t>
            </a:r>
            <a:r>
              <a:rPr dirty="0"/>
              <a:t> </a:t>
            </a:r>
            <a:r>
              <a:rPr dirty="0" err="1"/>
              <a:t>perdidas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828800" y="4754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748B"/>
                </a:solidFill>
              </a:defRPr>
            </a:pPr>
            <a:r>
              <a:t>Sistema de reputación + WhatsApp para reducir ausentismo en telemedicina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5943600"/>
            <a:ext cx="6400800" cy="731520"/>
          </a:xfrm>
          <a:prstGeom prst="rect">
            <a:avLst/>
          </a:prstGeom>
          <a:solidFill>
            <a:srgbClr val="DBEAF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rPr dirty="0"/>
              <a:t>De 33% a </a:t>
            </a:r>
            <a:r>
              <a:rPr lang="es-ES" dirty="0"/>
              <a:t>menos del 10</a:t>
            </a:r>
            <a:r>
              <a:rPr dirty="0"/>
              <a:t>% de </a:t>
            </a:r>
            <a:r>
              <a:rPr dirty="0" err="1"/>
              <a:t>ausentismo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90 días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75353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A34A"/>
                </a:solidFill>
              </a:defRPr>
            </a:pPr>
            <a:r>
              <a:rPr dirty="0"/>
              <a:t>El </a:t>
            </a:r>
            <a:r>
              <a:rPr dirty="0" err="1"/>
              <a:t>problema</a:t>
            </a:r>
            <a:r>
              <a:rPr lang="es-ES" dirty="0"/>
              <a:t>: Decenas de miles perdidos cada año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2801600" cy="13716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6A34A"/>
                </a:solidFill>
              </a:defRPr>
            </a:pPr>
            <a:r>
              <a:t>33% de pacientes no asiste a teleconsultas programadas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657600"/>
            <a:ext cx="2743200" cy="182880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16A34A"/>
                </a:solidFill>
              </a:defRPr>
            </a:pPr>
            <a:r>
              <a:rPr dirty="0"/>
              <a:t>$</a:t>
            </a:r>
            <a:r>
              <a:rPr lang="es-ES" dirty="0"/>
              <a:t>50-100</a:t>
            </a:r>
            <a:r>
              <a:rPr dirty="0"/>
              <a:t>K</a:t>
            </a:r>
          </a:p>
          <a:p>
            <a:pPr algn="ctr">
              <a:spcBef>
                <a:spcPts val="1200"/>
              </a:spcBef>
              <a:defRPr sz="1400">
                <a:solidFill>
                  <a:srgbClr val="64748B"/>
                </a:solidFill>
              </a:defRPr>
            </a:pPr>
            <a:r>
              <a:rPr dirty="0" err="1"/>
              <a:t>Pérdida</a:t>
            </a:r>
            <a:r>
              <a:rPr dirty="0"/>
              <a:t> </a:t>
            </a:r>
            <a:r>
              <a:rPr dirty="0" err="1"/>
              <a:t>anual</a:t>
            </a:r>
            <a:br>
              <a:rPr dirty="0"/>
            </a:br>
            <a:r>
              <a:rPr dirty="0"/>
              <a:t>(</a:t>
            </a:r>
            <a:r>
              <a:rPr lang="es-ES" dirty="0"/>
              <a:t>según tamaño</a:t>
            </a:r>
            <a:r>
              <a:rPr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2743200" cy="182880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16A34A"/>
                </a:solidFill>
              </a:defRPr>
            </a:pPr>
            <a:r>
              <a:rPr lang="en-US" dirty="0"/>
              <a:t>~200h</a:t>
            </a:r>
            <a:endParaRPr dirty="0"/>
          </a:p>
          <a:p>
            <a:pPr algn="ctr">
              <a:spcBef>
                <a:spcPts val="1200"/>
              </a:spcBef>
              <a:defRPr sz="1400">
                <a:solidFill>
                  <a:srgbClr val="64748B"/>
                </a:solidFill>
              </a:defRPr>
            </a:pPr>
            <a:r>
              <a:rPr dirty="0"/>
              <a:t>Horas </a:t>
            </a:r>
            <a:r>
              <a:rPr dirty="0" err="1"/>
              <a:t>médicas</a:t>
            </a:r>
            <a:br>
              <a:rPr dirty="0"/>
            </a:br>
            <a:r>
              <a:rPr dirty="0" err="1"/>
              <a:t>desperdiciadas</a:t>
            </a:r>
            <a:r>
              <a:rPr dirty="0"/>
              <a:t>/</a:t>
            </a:r>
            <a:r>
              <a:rPr dirty="0" err="1"/>
              <a:t>mes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7772400" y="3657600"/>
            <a:ext cx="2743200" cy="182880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16A34A"/>
                </a:solidFill>
              </a:defRPr>
            </a:pPr>
            <a:r>
              <a:t>😤</a:t>
            </a:r>
          </a:p>
          <a:p>
            <a:pPr algn="ctr">
              <a:spcBef>
                <a:spcPts val="1200"/>
              </a:spcBef>
              <a:defRPr sz="1400">
                <a:solidFill>
                  <a:srgbClr val="64748B"/>
                </a:solidFill>
              </a:defRPr>
            </a:pPr>
            <a:r>
              <a:t>Frustración de</a:t>
            </a:r>
            <a:br/>
            <a:r>
              <a:t>médicos y staff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0" y="3657600"/>
            <a:ext cx="2743200" cy="182880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800" b="1">
                <a:solidFill>
                  <a:srgbClr val="16A34A"/>
                </a:solidFill>
              </a:defRPr>
            </a:pPr>
            <a:r>
              <a:t>🏥</a:t>
            </a:r>
          </a:p>
          <a:p>
            <a:pPr algn="ctr">
              <a:spcBef>
                <a:spcPts val="1200"/>
              </a:spcBef>
              <a:defRPr sz="1400">
                <a:solidFill>
                  <a:srgbClr val="64748B"/>
                </a:solidFill>
              </a:defRPr>
            </a:pPr>
            <a:r>
              <a:t>Menor acceso para</a:t>
            </a:r>
            <a:br/>
            <a:r>
              <a:t>pacientes que sí necesitan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858000"/>
            <a:ext cx="1280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Fuente: The Effectiveness of Outpatient Appointment Reminders (2010) - 13,505 citas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6A34A"/>
                </a:solidFill>
              </a:defRPr>
            </a:pPr>
            <a:r>
              <a:t>La ventana de oportunidad se está cerrando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Telemedicina LATAM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5486400" cy="22860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16A34A"/>
                </a:solidFill>
              </a:defRPr>
            </a:pPr>
            <a:r>
              <a:t>$2.52B → $10.52B</a:t>
            </a:r>
          </a:p>
          <a:p>
            <a:pPr algn="ctr">
              <a:spcBef>
                <a:spcPts val="800"/>
              </a:spcBef>
              <a:defRPr sz="2200">
                <a:solidFill>
                  <a:srgbClr val="2563EB"/>
                </a:solidFill>
              </a:defRPr>
            </a:pPr>
            <a:r>
              <a:t>(2024 → 2033)</a:t>
            </a:r>
          </a:p>
          <a:p>
            <a:pPr algn="ctr">
              <a:spcBef>
                <a:spcPts val="1600"/>
              </a:spcBef>
              <a:defRPr sz="2800">
                <a:solidFill>
                  <a:srgbClr val="64748B"/>
                </a:solidFill>
              </a:defRPr>
            </a:pPr>
            <a:r>
              <a:t>CAGR 17.23%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Argentina post-pandemia: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560320"/>
            <a:ext cx="5943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✓ Marco legal desde 2012, adopción acelerada desde 2020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✓ 62% difiere atención por accesibilidad (McKinsey)</a:t>
            </a:r>
          </a:p>
          <a:p>
            <a:pPr>
              <a:spcAft>
                <a:spcPts val="1600"/>
              </a:spcAft>
              <a:defRPr sz="1800">
                <a:solidFill>
                  <a:srgbClr val="0F172A"/>
                </a:solidFill>
              </a:defRPr>
            </a:pPr>
            <a:r>
              <a:t>✓ 86% del gasto = enfermedades crónicas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486400"/>
            <a:ext cx="12801600" cy="13716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16A34A"/>
                </a:solidFill>
              </a:defRPr>
            </a:pPr>
            <a:r>
              <a:t>Oportunidad: Ser el estándar antes que el mercado madure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A34A"/>
                </a:solidFill>
              </a:defRPr>
            </a:pPr>
            <a:r>
              <a:t>3 componentes, 1 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2801600" cy="1097280"/>
          </a:xfrm>
          <a:prstGeom prst="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488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0116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A34A"/>
                </a:solidFill>
              </a:defRPr>
            </a:pPr>
            <a:r>
              <a:t>1. Recordatorios inteligentes vía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4688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92% tasa entrega | 78% lectura | 65% confirmación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12801600" cy="1097280"/>
          </a:xfrm>
          <a:prstGeom prst="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5204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383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A34A"/>
                </a:solidFill>
              </a:defRPr>
            </a:pPr>
            <a:r>
              <a:t>2. Sistema de reputación (como Uber)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840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Score 0-100 | 5 niveles | Badges y beneficios reales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72000"/>
            <a:ext cx="12801600" cy="1097280"/>
          </a:xfrm>
          <a:prstGeom prst="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4892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/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754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A34A"/>
                </a:solidFill>
              </a:defRPr>
            </a:pPr>
            <a:r>
              <a:t>3. IA conversacional (GPT-4)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2120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Respuestas naturales | Reprogramación asistida | Soporte 24/7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6217920"/>
            <a:ext cx="12801600" cy="13716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6A34A"/>
                </a:solidFill>
              </a:defRPr>
            </a:pPr>
            <a:r>
              <a:t>Resultado: 40-80% reducción de ausentismo</a:t>
            </a:r>
          </a:p>
          <a:p>
            <a:pPr algn="ctr">
              <a:spcBef>
                <a:spcPts val="800"/>
              </a:spcBef>
              <a:defRPr sz="1600">
                <a:solidFill>
                  <a:srgbClr val="64748B"/>
                </a:solidFill>
              </a:defRPr>
            </a:pPr>
            <a:r>
              <a:t>(Validado con Curogram, NexHealth, Penn Medicine)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6A34A"/>
                </a:solidFill>
              </a:defRPr>
            </a:pPr>
            <a:r>
              <a:t>Respaldado por neurociencia y datos reales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2801600" cy="100584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148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Behavioral Economics (Harvard MPH)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560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80% de decisiones son emocionales, no racionales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46120"/>
            <a:ext cx="12801600" cy="100584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5204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383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Gamificación aplicada a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794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Penn Medicine: +11% vacunación | Sidekick Health partnership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80560"/>
            <a:ext cx="12801600" cy="100584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6177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Resultados comerciales probados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029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t>Curogram: $3M+ retenido | NexHealth: 'Best system'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715000"/>
            <a:ext cx="12801600" cy="100584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5989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852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Retención de pacientes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6263640"/>
            <a:ext cx="927164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</a:defRPr>
            </a:pPr>
            <a:r>
              <a:rPr lang="es-ES" dirty="0"/>
              <a:t>Retener cuesta 5-7x menos que adquirir nuevo paciente | Pacientes recurrentes generan mayor valor </a:t>
            </a:r>
            <a:r>
              <a:rPr lang="es-ES" dirty="0" err="1"/>
              <a:t>lifetime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A34A"/>
                </a:solidFill>
              </a:defRPr>
            </a:pPr>
            <a:r>
              <a:t>Freemium B2B con conversión probada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</a:defRPr>
            </a:pPr>
            <a:r>
              <a:t>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</a:defRPr>
            </a:pPr>
            <a:r>
              <a:t>$0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2004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hasta 100 pac/mes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2743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WhatsApp ✓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Reputación básico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Reportes básicos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Soporte email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828800"/>
            <a:ext cx="3657600" cy="3657600"/>
          </a:xfrm>
          <a:prstGeom prst="rect">
            <a:avLst/>
          </a:prstGeom>
          <a:solidFill>
            <a:srgbClr val="F0FDF4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</a:defRPr>
            </a:pPr>
            <a:r>
              <a:t>Pro 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5603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</a:defRPr>
            </a:pPr>
            <a:r>
              <a:t>$0.50-1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2004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por paciente/mes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657600"/>
            <a:ext cx="2743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WhatsApp ✓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Reputación completo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IA/GPT-4 ✓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Reportes avanzados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Soporte prioritario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8288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0" y="20116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</a:defRPr>
            </a:pPr>
            <a: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56032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6A34A"/>
                </a:solidFill>
              </a:defRPr>
            </a:pPr>
            <a:r>
              <a:t>Custom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3200400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</a:defRPr>
            </a:pPr>
            <a:r>
              <a:t>volumen alto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657600"/>
            <a:ext cx="2743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Todo de Pro +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Customización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BI Integration</a:t>
            </a:r>
          </a:p>
          <a:p>
            <a:pPr>
              <a:spcAft>
                <a:spcPts val="600"/>
              </a:spcAft>
              <a:defRPr sz="1300">
                <a:solidFill>
                  <a:srgbClr val="0F172A"/>
                </a:solidFill>
              </a:defRPr>
            </a:pPr>
            <a:r>
              <a:t>• Dedicated CSM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943600"/>
            <a:ext cx="11887200" cy="164592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rPr dirty="0" err="1"/>
              <a:t>Ejemplo</a:t>
            </a:r>
            <a:r>
              <a:rPr dirty="0"/>
              <a:t>: </a:t>
            </a:r>
            <a:r>
              <a:rPr dirty="0" err="1"/>
              <a:t>Clínica</a:t>
            </a:r>
            <a:r>
              <a:rPr dirty="0"/>
              <a:t> 500 </a:t>
            </a:r>
            <a:r>
              <a:rPr dirty="0" err="1"/>
              <a:t>pacientes</a:t>
            </a:r>
            <a:r>
              <a:rPr dirty="0"/>
              <a:t>/</a:t>
            </a:r>
            <a:r>
              <a:rPr dirty="0" err="1"/>
              <a:t>mes</a:t>
            </a:r>
            <a:endParaRPr dirty="0"/>
          </a:p>
          <a:p>
            <a:pPr algn="ctr">
              <a:spcBef>
                <a:spcPts val="1000"/>
              </a:spcBef>
              <a:defRPr sz="2000">
                <a:solidFill>
                  <a:srgbClr val="0F172A"/>
                </a:solidFill>
              </a:defRPr>
            </a:pPr>
            <a:r>
              <a:rPr dirty="0"/>
              <a:t>Pro tier: $375 MRR | $4,500/</a:t>
            </a:r>
            <a:r>
              <a:rPr dirty="0" err="1"/>
              <a:t>año</a:t>
            </a:r>
            <a:endParaRPr dirty="0"/>
          </a:p>
          <a:p>
            <a:pPr algn="ctr">
              <a:spcBef>
                <a:spcPts val="1200"/>
              </a:spcBef>
              <a:defRPr sz="2800" b="1">
                <a:solidFill>
                  <a:srgbClr val="16A34A"/>
                </a:solidFill>
              </a:defRPr>
            </a:pPr>
            <a:r>
              <a:rPr dirty="0"/>
              <a:t>ROI: </a:t>
            </a:r>
            <a:r>
              <a:rPr dirty="0" err="1"/>
              <a:t>Recupera</a:t>
            </a:r>
            <a:r>
              <a:rPr dirty="0"/>
              <a:t> $</a:t>
            </a:r>
            <a:r>
              <a:rPr lang="es-ES" dirty="0"/>
              <a:t>30</a:t>
            </a:r>
            <a:r>
              <a:rPr dirty="0"/>
              <a:t>K</a:t>
            </a:r>
            <a:r>
              <a:rPr lang="es-ES" dirty="0"/>
              <a:t>-80K</a:t>
            </a:r>
            <a:r>
              <a:rPr dirty="0"/>
              <a:t>, </a:t>
            </a:r>
            <a:r>
              <a:rPr dirty="0" err="1"/>
              <a:t>invierte</a:t>
            </a:r>
            <a:r>
              <a:rPr dirty="0"/>
              <a:t> $4.5K = </a:t>
            </a:r>
            <a:r>
              <a:rPr lang="es-ES" dirty="0"/>
              <a:t>560%-</a:t>
            </a:r>
            <a:r>
              <a:rPr dirty="0"/>
              <a:t>1,</a:t>
            </a:r>
            <a:r>
              <a:rPr lang="es-ES" dirty="0"/>
              <a:t>68</a:t>
            </a:r>
            <a:r>
              <a:rPr dirty="0"/>
              <a:t>0% ROI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A34A"/>
                </a:solidFill>
              </a:defRPr>
            </a:pPr>
            <a:r>
              <a:t>$180M TAM solo en Argentina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TAM (Total Addressable Market)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61278" y="2011680"/>
            <a:ext cx="85472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6A34A"/>
                </a:solidFill>
              </a:defRPr>
            </a:pPr>
            <a:r>
              <a:rPr dirty="0"/>
              <a:t>$</a:t>
            </a:r>
            <a:r>
              <a:rPr lang="es-ES" dirty="0"/>
              <a:t>156</a:t>
            </a:r>
            <a:r>
              <a:rPr dirty="0"/>
              <a:t>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423160"/>
            <a:ext cx="11887200" cy="457200"/>
          </a:xfrm>
          <a:prstGeom prst="rect">
            <a:avLst/>
          </a:prstGeom>
          <a:solidFill>
            <a:srgbClr val="16A3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s-ES" dirty="0"/>
              <a:t>13M </a:t>
            </a:r>
            <a:r>
              <a:rPr lang="es-ES" dirty="0" err="1"/>
              <a:t>teleconsultas</a:t>
            </a:r>
            <a:r>
              <a:rPr lang="es-ES" dirty="0"/>
              <a:t> x $1 x 12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SAM (Serviceable Available Market)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0364" y="3017520"/>
            <a:ext cx="91563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6A34A"/>
                </a:solidFill>
              </a:defRPr>
            </a:pPr>
            <a:r>
              <a:rPr dirty="0"/>
              <a:t>$</a:t>
            </a:r>
            <a:r>
              <a:rPr lang="es-ES" dirty="0"/>
              <a:t>15.6</a:t>
            </a:r>
            <a:r>
              <a:rPr dirty="0"/>
              <a:t>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29000"/>
            <a:ext cx="7132320" cy="457200"/>
          </a:xfrm>
          <a:prstGeom prst="rect">
            <a:avLst/>
          </a:prstGeom>
          <a:solidFill>
            <a:srgbClr val="2563E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s-ES" dirty="0"/>
              <a:t>1% ya son telemedicina HOY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171463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rPr dirty="0"/>
              <a:t>Año 1 (0.5% </a:t>
            </a:r>
            <a:r>
              <a:rPr lang="es-ES" dirty="0"/>
              <a:t>SAM</a:t>
            </a:r>
            <a:r>
              <a:rPr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53639" y="4023360"/>
            <a:ext cx="66236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6A34A"/>
                </a:solidFill>
              </a:defRPr>
            </a:pPr>
            <a:r>
              <a:rPr dirty="0"/>
              <a:t>$</a:t>
            </a:r>
            <a:r>
              <a:rPr lang="es-ES" dirty="0"/>
              <a:t>78</a:t>
            </a:r>
            <a:r>
              <a:rPr dirty="0"/>
              <a:t>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34840"/>
            <a:ext cx="2971800" cy="457200"/>
          </a:xfrm>
          <a:prstGeom prst="rect">
            <a:avLst/>
          </a:prstGeom>
          <a:solidFill>
            <a:srgbClr val="F9731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n-US" dirty="0"/>
              <a:t>~</a:t>
            </a:r>
            <a:r>
              <a:rPr lang="es-ES" dirty="0"/>
              <a:t>130 clientes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15559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rPr dirty="0"/>
              <a:t>Año 2 (</a:t>
            </a:r>
            <a:r>
              <a:rPr lang="es-ES" dirty="0"/>
              <a:t>2</a:t>
            </a:r>
            <a:r>
              <a:rPr dirty="0"/>
              <a:t>% </a:t>
            </a:r>
            <a:r>
              <a:rPr lang="es-ES" dirty="0"/>
              <a:t>SAM</a:t>
            </a:r>
            <a:r>
              <a:rPr dirty="0"/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36619" y="5029200"/>
            <a:ext cx="7793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6A34A"/>
                </a:solidFill>
              </a:defRPr>
            </a:pPr>
            <a:r>
              <a:rPr dirty="0"/>
              <a:t>$</a:t>
            </a:r>
            <a:r>
              <a:rPr lang="es-ES" dirty="0"/>
              <a:t>312</a:t>
            </a:r>
            <a:r>
              <a:rPr dirty="0"/>
              <a:t>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440680"/>
            <a:ext cx="4160520" cy="457200"/>
          </a:xfrm>
          <a:prstGeom prst="rect">
            <a:avLst/>
          </a:prstGeom>
          <a:solidFill>
            <a:srgbClr val="F9731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s-ES" dirty="0" err="1"/>
              <a:t>Partnerships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914400" y="6035040"/>
            <a:ext cx="15559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rPr dirty="0"/>
              <a:t>Año 3 (</a:t>
            </a:r>
            <a:r>
              <a:rPr lang="es-ES" dirty="0"/>
              <a:t>6</a:t>
            </a:r>
            <a:r>
              <a:rPr dirty="0"/>
              <a:t>% </a:t>
            </a:r>
            <a:r>
              <a:rPr lang="es-ES" dirty="0"/>
              <a:t>SAM</a:t>
            </a:r>
            <a:r>
              <a:rPr dirty="0"/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36619" y="6035040"/>
            <a:ext cx="7793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6A34A"/>
                </a:solidFill>
              </a:defRPr>
            </a:pPr>
            <a:r>
              <a:rPr dirty="0"/>
              <a:t>$</a:t>
            </a:r>
            <a:r>
              <a:rPr lang="es-ES" dirty="0"/>
              <a:t>932</a:t>
            </a:r>
            <a:r>
              <a:rPr dirty="0"/>
              <a:t>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6446520"/>
            <a:ext cx="5943600" cy="457200"/>
          </a:xfrm>
          <a:prstGeom prst="rect">
            <a:avLst/>
          </a:prstGeom>
          <a:solidFill>
            <a:srgbClr val="F9731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lang="es-ES" dirty="0"/>
              <a:t>Break-</a:t>
            </a:r>
            <a:r>
              <a:rPr lang="es-ES" dirty="0" err="1"/>
              <a:t>even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914400" y="7132320"/>
            <a:ext cx="12801600" cy="73152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6A34A"/>
                </a:solidFill>
              </a:defRPr>
            </a:pPr>
            <a:r>
              <a:rPr dirty="0"/>
              <a:t>🌎 </a:t>
            </a:r>
            <a:r>
              <a:rPr dirty="0" err="1"/>
              <a:t>Expansión</a:t>
            </a:r>
            <a:r>
              <a:rPr dirty="0"/>
              <a:t> Año 4-5: 🇧🇷 </a:t>
            </a:r>
            <a:r>
              <a:rPr dirty="0" err="1"/>
              <a:t>Brasil</a:t>
            </a:r>
            <a:r>
              <a:rPr dirty="0"/>
              <a:t> ($</a:t>
            </a:r>
            <a:r>
              <a:rPr lang="es-ES" dirty="0"/>
              <a:t>78</a:t>
            </a:r>
            <a:r>
              <a:rPr dirty="0"/>
              <a:t>M TAM) | 🇲🇽 México ($</a:t>
            </a:r>
            <a:r>
              <a:rPr lang="es-ES" dirty="0"/>
              <a:t>468</a:t>
            </a:r>
            <a:r>
              <a:rPr dirty="0"/>
              <a:t>M TAM)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A34A"/>
                </a:solidFill>
              </a:defRPr>
            </a:pPr>
            <a:r>
              <a:t>Posicionamiento único en LATAM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Competencia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77440"/>
            <a:ext cx="5943600" cy="1645920"/>
          </a:xfrm>
          <a:prstGeom prst="rect">
            <a:avLst/>
          </a:prstGeom>
          <a:solidFill>
            <a:srgbClr val="FFFAFA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Global (USA)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Curogram, NexHealth, SimplePractice</a:t>
            </a:r>
          </a:p>
          <a:p>
            <a:pPr>
              <a:spcBef>
                <a:spcPts val="600"/>
              </a:spcBef>
              <a:defRPr sz="1400">
                <a:solidFill>
                  <a:srgbClr val="DC2626"/>
                </a:solidFill>
              </a:defRPr>
            </a:pPr>
            <a:r>
              <a:t>❌ No localizados</a:t>
            </a:r>
          </a:p>
          <a:p>
            <a:pPr>
              <a:spcBef>
                <a:spcPts val="600"/>
              </a:spcBef>
              <a:defRPr sz="1400">
                <a:solidFill>
                  <a:srgbClr val="DC2626"/>
                </a:solidFill>
              </a:defRPr>
            </a:pPr>
            <a:r>
              <a:t>❌ Pricing prohibitivo</a:t>
            </a:r>
          </a:p>
          <a:p>
            <a:pPr>
              <a:spcBef>
                <a:spcPts val="600"/>
              </a:spcBef>
              <a:defRPr sz="1400">
                <a:solidFill>
                  <a:srgbClr val="DC2626"/>
                </a:solidFill>
              </a:defRPr>
            </a:pPr>
            <a:r>
              <a:t>❌ No WhatsApp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5943600" cy="1463040"/>
          </a:xfrm>
          <a:prstGeom prst="rect">
            <a:avLst/>
          </a:prstGeom>
          <a:solidFill>
            <a:srgbClr val="FFFAFA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Local (Argentina)</a:t>
            </a:r>
          </a:p>
          <a:p>
            <a:pPr>
              <a:spcBef>
                <a:spcPts val="800"/>
              </a:spcBef>
              <a:defRPr sz="1500">
                <a:solidFill>
                  <a:srgbClr val="0F172A"/>
                </a:solidFill>
              </a:defRPr>
            </a:pPr>
            <a:r>
              <a:t>Medicus, OSDE, CRMs genéricos</a:t>
            </a:r>
          </a:p>
          <a:p>
            <a:pPr>
              <a:spcBef>
                <a:spcPts val="600"/>
              </a:spcBef>
              <a:defRPr sz="1400">
                <a:solidFill>
                  <a:srgbClr val="DC2626"/>
                </a:solidFill>
              </a:defRPr>
            </a:pPr>
            <a:r>
              <a:t>❌ Solo recordatorios básicos</a:t>
            </a:r>
          </a:p>
          <a:p>
            <a:pPr>
              <a:spcBef>
                <a:spcPts val="600"/>
              </a:spcBef>
              <a:defRPr sz="1400">
                <a:solidFill>
                  <a:srgbClr val="DC2626"/>
                </a:solidFill>
              </a:defRPr>
            </a:pPr>
            <a:r>
              <a:t>❌ Sin gamificación</a:t>
            </a:r>
          </a:p>
          <a:p>
            <a:pPr>
              <a:spcBef>
                <a:spcPts val="600"/>
              </a:spcBef>
              <a:defRPr sz="1400">
                <a:solidFill>
                  <a:srgbClr val="DC2626"/>
                </a:solidFill>
              </a:defRPr>
            </a:pPr>
            <a:r>
              <a:t>❌ No especializados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Nuestro diferenciador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2377440"/>
            <a:ext cx="5943600" cy="6400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25146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4688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Plug &amp; 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74320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No reemplazamos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154680"/>
            <a:ext cx="5943600" cy="6400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329184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246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WhatsApp-first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52044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98% penetración ARG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3931920"/>
            <a:ext cx="5943600" cy="6400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40690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402335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Sistema reputación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2976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Único en LATAM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4709159"/>
            <a:ext cx="5943600" cy="6400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79" y="4846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80059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Pricing LATAM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0749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1/10 del costo USA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5486399"/>
            <a:ext cx="5943600" cy="6400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79" y="5623559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⚖️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5778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Regulación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852159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Marco legal argentino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6A34A"/>
                </a:solidFill>
              </a:defRPr>
            </a:pPr>
            <a:r>
              <a:t>3 canales de adquisición - Ejecución 18 meses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2801600" cy="1463040"/>
          </a:xfrm>
          <a:prstGeom prst="rect">
            <a:avLst/>
          </a:prstGeom>
          <a:solidFill>
            <a:srgbClr val="F0FDF4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46888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148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FASE 1: Validación (Meses 1-6)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5603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Canal: Outbound directo 50 clínicas AMBA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Meta: 10 pilotos × $500 = $5K MRR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KPI: 25% conversión demo → pilot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03320"/>
            <a:ext cx="12801600" cy="1463040"/>
          </a:xfrm>
          <a:prstGeom prst="rect">
            <a:avLst/>
          </a:prstGeom>
          <a:solidFill>
            <a:srgbClr val="F0FDF4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41605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2️⃣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840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FASE 2: Partnerships (Meses 7-12)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42519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Canal: Alianzas plataformas telemedicina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Medicus | OSDE | Swiss Medical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Meta: 2 partnerships × 1K pac = $20K MRR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394960"/>
            <a:ext cx="12801600" cy="1463040"/>
          </a:xfrm>
          <a:prstGeom prst="rect">
            <a:avLst/>
          </a:prstGeom>
          <a:solidFill>
            <a:srgbClr val="F0FDF4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585216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3️⃣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532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A34A"/>
                </a:solidFill>
              </a:defRPr>
            </a:pPr>
            <a:r>
              <a:t>FASE 3: Product-Led Growth (Meses 13-18)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9436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Canal: Freemium viral + marketing digital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Free tier + Casos de éxito + LinkedIn/Ads</a:t>
            </a:r>
          </a:p>
          <a:p>
            <a:pPr>
              <a:spcAft>
                <a:spcPts val="400"/>
              </a:spcAft>
              <a:defRPr sz="1500">
                <a:solidFill>
                  <a:srgbClr val="0F172A"/>
                </a:solidFill>
              </a:defRPr>
            </a:pPr>
            <a:r>
              <a:t>• Meta: 500 signups/mes, 15% conv = $56K MRR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7132320"/>
            <a:ext cx="12801600" cy="822960"/>
          </a:xfrm>
          <a:prstGeom prst="rect">
            <a:avLst/>
          </a:prstGeom>
          <a:solidFill>
            <a:srgbClr val="F0FDF4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6A34A"/>
                </a:solidFill>
              </a:defRPr>
            </a:pPr>
            <a:r>
              <a:t>Total Mes 18: $81K MRR | $972K ARR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A34A"/>
                </a:solidFill>
              </a:defRPr>
            </a:pPr>
            <a:r>
              <a:t>$350K seed para 36 meses de runway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Proyección 3 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68880"/>
            <a:ext cx="640080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Año 1</a:t>
            </a:r>
          </a:p>
          <a:p>
            <a:pPr algn="ctr"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$90K revenue | -$200K burn | 10 pilotos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66160"/>
            <a:ext cx="640080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Año 2</a:t>
            </a:r>
          </a:p>
          <a:p>
            <a:pPr algn="ctr"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$270K revenue | -$80K burn | 3 partnerships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663440"/>
            <a:ext cx="6400800" cy="9144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Año 3 ✓</a:t>
            </a:r>
          </a:p>
          <a:p>
            <a:pPr algn="ctr"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$720K revenue | +$120K profit | Break-even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760720"/>
            <a:ext cx="6400800" cy="73152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BREAK-EVEN: Mes 24 (Q2 2027)</a:t>
            </a:r>
          </a:p>
          <a:p>
            <a:pPr algn="ctr">
              <a:spcBef>
                <a:spcPts val="600"/>
              </a:spcBef>
              <a:defRPr sz="1400">
                <a:solidFill>
                  <a:srgbClr val="64748B"/>
                </a:solidFill>
              </a:defRPr>
            </a:pPr>
            <a:r>
              <a:t>EXIT: Adquisición $5-10M | Serie A $50M+ 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Uso de fondos ($350K)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468880"/>
            <a:ext cx="5943600" cy="10972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27889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6060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Producto &amp; Tech (40%) - $140K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0175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2 devs FT 18m | AWS | GPT-4 + WhatsApp 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749039"/>
            <a:ext cx="5943600" cy="10972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4069079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8862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Sales &amp; Marketing (35%) - $122K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297679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1 BDR 12m | Campaigns | Eventos industria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5029200"/>
            <a:ext cx="5943600" cy="1097280"/>
          </a:xfrm>
          <a:prstGeom prst="rect">
            <a:avLst/>
          </a:prstGeom>
          <a:solidFill>
            <a:srgbClr val="F0FDF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53492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1663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Operaciones (25%) - $88K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55778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Legal compliance | Accounting | Customer success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6A34A"/>
                </a:solidFill>
              </a:defRPr>
            </a:pPr>
            <a:r>
              <a:t>El equipo para ejecutar</a:t>
            </a:r>
          </a:p>
        </p:txBody>
      </p:sp>
      <p:sp>
        <p:nvSpPr>
          <p:cNvPr id="3" name="Rectangle 2"/>
          <p:cNvSpPr/>
          <p:nvPr/>
        </p:nvSpPr>
        <p:spPr>
          <a:xfrm>
            <a:off x="2926080" y="1645920"/>
            <a:ext cx="1371600" cy="1371600"/>
          </a:xfrm>
          <a:prstGeom prst="rect">
            <a:avLst/>
          </a:prstGeom>
          <a:solidFill>
            <a:srgbClr val="16A3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Founder &amp; 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Product • Healthcare 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Exp en healthtech y operaciones hospitalarias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1645920"/>
            <a:ext cx="1371600" cy="1371600"/>
          </a:xfrm>
          <a:prstGeom prst="rect">
            <a:avLst/>
          </a:prstGeom>
          <a:solidFill>
            <a:srgbClr val="16A3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2004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Co-founder &amp; 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Architecture • AI/ML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2336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Node.js, React, PostgreSQL. Scale-ups.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155680" y="1645920"/>
            <a:ext cx="1371600" cy="1371600"/>
          </a:xfrm>
          <a:prstGeom prst="rect">
            <a:avLst/>
          </a:prstGeom>
          <a:solidFill>
            <a:srgbClr val="16A34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32004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Advisors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365760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6A34A"/>
                </a:solidFill>
              </a:defRPr>
            </a:pPr>
            <a:r>
              <a:t>Médicos • Legal •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402336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Director médico + Abogado salud + Ex-CFO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303520"/>
            <a:ext cx="11887200" cy="1645920"/>
          </a:xfrm>
          <a:prstGeom prst="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6A34A"/>
                </a:solidFill>
              </a:defRPr>
            </a:pPr>
            <a:r>
              <a:t>"Reducir ausentismo es solo el comienzo.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16A34A"/>
                </a:solidFill>
              </a:defRPr>
            </a:pPr>
            <a:r>
              <a:t>Nuestra visión: Ser el estándar de reputación del paciente</a:t>
            </a:r>
          </a:p>
          <a:p>
            <a:pPr algn="ctr">
              <a:spcBef>
                <a:spcPts val="0"/>
              </a:spcBef>
              <a:defRPr sz="2200" b="1">
                <a:solidFill>
                  <a:srgbClr val="16A34A"/>
                </a:solidFill>
              </a:defRPr>
            </a:pPr>
            <a:r>
              <a:t>en Latinoamérica. El 'Uber Score' que toda plataforma integra."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7132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</a:defRPr>
            </a:pPr>
            <a:r>
              <a:t>Acompañanos a construir el futuro de la salud en LATAM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940</Words>
  <Application>Microsoft Office PowerPoint</Application>
  <PresentationFormat>Custom</PresentationFormat>
  <Paragraphs>176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FERNANDEZ Francisco</cp:lastModifiedBy>
  <cp:revision>6</cp:revision>
  <dcterms:created xsi:type="dcterms:W3CDTF">2013-01-27T09:14:16Z</dcterms:created>
  <dcterms:modified xsi:type="dcterms:W3CDTF">2025-11-09T20:59:07Z</dcterms:modified>
  <cp:category/>
</cp:coreProperties>
</file>