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1371600"/>
            <a:ext cx="1828800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6A34A"/>
                </a:solidFill>
              </a:defRPr>
            </a:pPr>
            <a:r>
              <a:t>Recuperá $72.000 al año</a:t>
            </a:r>
          </a:p>
          <a:p>
            <a:r>
              <a:t>en horas médicas perdidas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Sistema de reputación + WhatsApp para reducir ausentismo en telemedicina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5943600"/>
            <a:ext cx="6400800" cy="731520"/>
          </a:xfrm>
          <a:prstGeom prst="rect">
            <a:avLst/>
          </a:prstGeom>
          <a:solidFill>
            <a:srgbClr val="DBEAF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De 33% a 9% de ausentismo en 90 días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El problema de los $72.000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280160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33% de pacientes no asiste a teleconsultas programadas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t>$72K</a:t>
            </a:r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Pérdida anual</a:t>
            </a:r>
            <a:br/>
            <a:r>
              <a:t>(clínica mediana)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t>156h</a:t>
            </a:r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Horas médicas</a:t>
            </a:r>
            <a:br/>
            <a:r>
              <a:t>desperdiciadas/mes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t>😤</a:t>
            </a:r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Frustración de</a:t>
            </a:r>
            <a:br/>
            <a:r>
              <a:t>médicos y staff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t>🏥</a:t>
            </a:r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Menor acceso para</a:t>
            </a:r>
            <a:br/>
            <a:r>
              <a:t>pacientes que sí necesitan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580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Fuente: The Effectiveness of Outpatient Appointment Reminders (2010) - 13,505 citas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6A34A"/>
                </a:solidFill>
              </a:defRPr>
            </a:pPr>
            <a:r>
              <a:t>La ventana de oportunidad se está cerrando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Telemedicina LATAM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5486400" cy="22860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16A34A"/>
                </a:solidFill>
              </a:defRPr>
            </a:pPr>
            <a:r>
              <a:t>$2.52B → $10.52B</a:t>
            </a:r>
          </a:p>
          <a:p>
            <a:pPr algn="ctr">
              <a:spcBef>
                <a:spcPts val="800"/>
              </a:spcBef>
              <a:defRPr sz="2200">
                <a:solidFill>
                  <a:srgbClr val="2563EB"/>
                </a:solidFill>
              </a:defRPr>
            </a:pPr>
            <a:r>
              <a:t>(2024 → 2033)</a:t>
            </a:r>
          </a:p>
          <a:p>
            <a:pPr algn="ctr">
              <a:spcBef>
                <a:spcPts val="1600"/>
              </a:spcBef>
              <a:defRPr sz="2800">
                <a:solidFill>
                  <a:srgbClr val="64748B"/>
                </a:solidFill>
              </a:defRPr>
            </a:pPr>
            <a:r>
              <a:t>CAGR 17.23%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Argentina post-pandemia: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560320"/>
            <a:ext cx="5943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✓ Marco legal desde 2012, adopción acelerada desde 2020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✓ 62% difiere atención por accesibilidad (McKinsey)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✓ 86% del gasto = enfermedades crónicas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A34A"/>
                </a:solidFill>
              </a:defRPr>
            </a:pPr>
            <a:r>
              <a:t>Oportunidad: Ser el estándar antes que el mercado madure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3 componentes, 1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2801600" cy="10972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34A"/>
                </a:solidFill>
              </a:defRPr>
            </a:pPr>
            <a:r>
              <a:t>1. Recordatorios inteligentes vía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92% tasa entrega | 78% lectura | 65% confirmación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2801600" cy="10972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34A"/>
                </a:solidFill>
              </a:defRPr>
            </a:pPr>
            <a:r>
              <a:t>2. Sistema de reputación (como Uber)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840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Score 0-100 | 5 niveles | Badges y beneficios reales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12801600" cy="10972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34A"/>
                </a:solidFill>
              </a:defRPr>
            </a:pPr>
            <a:r>
              <a:t>3. IA conversacional (GPT-4)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12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Respuestas naturales | Reprogramación asistida | Soporte 24/7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217920"/>
            <a:ext cx="1280160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6A34A"/>
                </a:solidFill>
              </a:defRPr>
            </a:pPr>
            <a:r>
              <a:t>Resultado: 40-80% reducción de ausentismo</a:t>
            </a:r>
          </a:p>
          <a:p>
            <a:pPr algn="ctr">
              <a:spcBef>
                <a:spcPts val="800"/>
              </a:spcBef>
              <a:defRPr sz="1600">
                <a:solidFill>
                  <a:srgbClr val="64748B"/>
                </a:solidFill>
              </a:defRPr>
            </a:pPr>
            <a:r>
              <a:t>(Validado con Curogram, NexHealth, Penn Medicine)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6A34A"/>
                </a:solidFill>
              </a:defRPr>
            </a:pPr>
            <a:r>
              <a:t>Respaldado por neurociencia y datos reales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148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Behavioral Economics (Harvard MPH)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560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80% de decisiones son emocionales, no racionales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383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Gamificación aplicada a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94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Penn Medicine: +11% vacunación | Sidekick Health partnership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617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Resultados comerciales probados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029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Curogram: $3M+ retenido | NexHealth: 'Best system'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71500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989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Retención de pacientes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Paciente fiel 5+ años = 377x más valioso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Freemium B2B con conversión probada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t>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$0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004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hasta 100 pac/mes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WhatsApp ✓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Reputación básico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Reportes básicos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Soporte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828800"/>
            <a:ext cx="3657600" cy="365760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t>Pro 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$0.50-1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2004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por paciente/mes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6576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WhatsApp ✓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Reputación completo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IA/GPT-4 ✓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Reportes avanzados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Soporte prioritario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8288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004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volumen 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6576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Todo de Pro +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Customización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BI Integration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Dedicated CSM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943600"/>
            <a:ext cx="11887200" cy="16459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Ejemplo: Clínica 500 pacientes/mes</a:t>
            </a:r>
          </a:p>
          <a:p>
            <a:pPr algn="ctr">
              <a:spcBef>
                <a:spcPts val="1000"/>
              </a:spcBef>
              <a:defRPr sz="2000">
                <a:solidFill>
                  <a:srgbClr val="0F172A"/>
                </a:solidFill>
              </a:defRPr>
            </a:pPr>
            <a:r>
              <a:t>Pro tier: $375 MRR | $4,500/año</a:t>
            </a:r>
          </a:p>
          <a:p>
            <a:pPr algn="ctr">
              <a:spcBef>
                <a:spcPts val="1200"/>
              </a:spcBef>
              <a:defRPr sz="2800" b="1">
                <a:solidFill>
                  <a:srgbClr val="16A34A"/>
                </a:solidFill>
              </a:defRPr>
            </a:pPr>
            <a:r>
              <a:t>ROI: Recupera $72K, invierte $4.5K = 1,500%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$180M TAM solo en Argentina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TAM (Total Addressable Market)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t>$180M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23160"/>
            <a:ext cx="11887200" cy="4572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360K camas hospitalarias × $500/cama/año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SAM (Serviceable Available Market)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0175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t>$18M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7132320" cy="457200"/>
          </a:xfrm>
          <a:prstGeom prst="rect">
            <a:avLst/>
          </a:prstGeom>
          <a:solidFill>
            <a:srgbClr val="2563E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10% adopción telemedicina (36K camas)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SOM Año 1 (0.5% share)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4023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t>$90K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2971800" cy="457200"/>
          </a:xfrm>
          <a:prstGeom prst="rect">
            <a:avLst/>
          </a:prstGeom>
          <a:solidFill>
            <a:srgbClr val="F9731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Beachhead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SOM Año 2 (1.5% share)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5029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t>$270K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40680"/>
            <a:ext cx="4160520" cy="457200"/>
          </a:xfrm>
          <a:prstGeom prst="rect">
            <a:avLst/>
          </a:prstGeom>
          <a:solidFill>
            <a:srgbClr val="F9731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Growth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35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SOM Año 3 (4.0% share)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035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t>$720K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446520"/>
            <a:ext cx="5943600" cy="457200"/>
          </a:xfrm>
          <a:prstGeom prst="rect">
            <a:avLst/>
          </a:prstGeom>
          <a:solidFill>
            <a:srgbClr val="F9731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Scale phase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🌎 Expansión Año 4-5: 🇧🇷 Brasil ($800M TAM) | 🇲🇽 México ($600M TAM)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Posicionamiento único en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Competencia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5943600" cy="1645920"/>
          </a:xfrm>
          <a:prstGeom prst="rect">
            <a:avLst/>
          </a:prstGeom>
          <a:solidFill>
            <a:srgbClr val="FFFAFA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Global (USA)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Curogram, NexHealth, SimplePractice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No localizados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Pricing prohibitivo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No WhatsApp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5943600" cy="1463040"/>
          </a:xfrm>
          <a:prstGeom prst="rect">
            <a:avLst/>
          </a:prstGeom>
          <a:solidFill>
            <a:srgbClr val="FFFAFA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Local (Argentina)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Medicus, OSDE, CRMs genéricos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Solo recordatorios básicos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Sin gamificación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No especializados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Nuestro diferenciador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377440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Plug &amp;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No reemplazamos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154680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291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46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WhatsApp-first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5204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98% penetración ARG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931920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0690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2335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Sistema reputación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976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Único en LATAM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709159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846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0059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Pricing LATAM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74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1/10 del costo USA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5486399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562355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577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Regulación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852159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Marco legal argentino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6A34A"/>
                </a:solidFill>
              </a:defRPr>
            </a:pPr>
            <a:r>
              <a:t>3 canales de adquisición - Ejecución 18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2801600" cy="146304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468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148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FASE 1: Validación (Meses 1-6)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560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Canal: Outbound directo 50 clínicas AMBA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Meta: 10 pilotos × $500 = $5K MRR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KPI: 25% conversión demo →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03320"/>
            <a:ext cx="12801600" cy="146304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840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FASE 2: Partnerships (Meses 7-12)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2519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Canal: Alianzas plataformas telemedicina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Medicus | OSDE | Swiss Medical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Meta: 2 partnerships × 1K pac = $20K MRR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394960"/>
            <a:ext cx="12801600" cy="146304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852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532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FASE 3: Product-Led Growth (Meses 13-18)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943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Canal: Freemium viral + marketing digital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Free tier + Casos de éxito + LinkedIn/Ads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Meta: 500 signups/mes, 15% conv = $56K MRR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7132320"/>
            <a:ext cx="12801600" cy="82296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6A34A"/>
                </a:solidFill>
              </a:defRPr>
            </a:pPr>
            <a:r>
              <a:t>Total Mes 18: $81K MRR | $972K ARR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$350K seed para 36 meses de runway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Proyección 3 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640080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Año 1</a:t>
            </a:r>
          </a:p>
          <a:p>
            <a:pPr algn="ctr"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$90K revenue | -$200K burn | 10 pilotos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640080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Año 2</a:t>
            </a:r>
          </a:p>
          <a:p>
            <a:pPr algn="ctr"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$270K revenue | -$80K burn | 3 partnerships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6400800" cy="9144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Año 3 ✓</a:t>
            </a:r>
          </a:p>
          <a:p>
            <a:pPr algn="ctr"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$720K revenue | +$120K profit | Break-even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60720"/>
            <a:ext cx="6400800" cy="7315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BREAK-EVEN: Mes 24 (Q2 2027)</a:t>
            </a:r>
          </a:p>
          <a:p>
            <a:pPr algn="ctr">
              <a:spcBef>
                <a:spcPts val="600"/>
              </a:spcBef>
              <a:defRPr sz="1400">
                <a:solidFill>
                  <a:srgbClr val="64748B"/>
                </a:solidFill>
              </a:defRPr>
            </a:pPr>
            <a:r>
              <a:t>EXIT: Adquisición $5-10M | Serie A $50M+ 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Uso de fondos ($350K)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468880"/>
            <a:ext cx="5943600" cy="10972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788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Producto &amp; Tech (40%) - $140K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017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2 devs FT 18m | AWS | GPT-4 + WhatsApp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749039"/>
            <a:ext cx="5943600" cy="10972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06907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86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Sales &amp; Marketing (35%) - $122K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29767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1 BDR 12m | Campaigns | Eventos industria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5029200"/>
            <a:ext cx="5943600" cy="10972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349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166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Operaciones (25%) - $88K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577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Legal compliance | Accounting | Customer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El equipo para ejecutar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1645920"/>
            <a:ext cx="1371600" cy="13716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Founder &amp;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Product • Healthcare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Exp en healthtech y operaciones hospitalarias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645920"/>
            <a:ext cx="1371600" cy="13716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004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Co-founder &amp; 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Architecture • AI/ML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233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Node.js, React, PostgreSQL. Scale-ups.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0" y="1645920"/>
            <a:ext cx="1371600" cy="13716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2004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Advisors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657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Médicos • Legal •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40233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Director médico + Abogado salud + Ex-CFO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03520"/>
            <a:ext cx="11887200" cy="164592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"Reducir ausentismo es solo el comienzo.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16A34A"/>
                </a:solidFill>
              </a:defRPr>
            </a:pPr>
            <a:r>
              <a:t>Nuestra visión: Ser el estándar de reputación del paciente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16A34A"/>
                </a:solidFill>
              </a:defRPr>
            </a:pPr>
            <a:r>
              <a:t>en Latinoamérica. El 'Uber Score' que toda plataforma integra."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7132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Acompañanos a construir el futuro de la salud en LATAM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